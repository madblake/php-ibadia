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" Type="http://schemas.openxmlformats.org/officeDocument/2006/relationships/presProps" Target="pres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GUIFactory{public function createButton():Button;}</a:t>
            </a:r>
          </a:p>
          <a:p>
            <a:r>
              <a:t>interface Button{public function render():string;}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QueryBuilder{function select($t){/*...*/}}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LoggerCreator{abstract function create():Logger;}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Shape{ function __clone(){}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final class Config{ private static $i; private function __construct(){}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XmlAdapter implements Target{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Remote{ function __construct(Device $d){}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Node{ function render(): string;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Notifier{ function send($m);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VideoConverter{ function convert($f,$t){}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GlyphFactory{ /* pool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ImageProxy implements Image{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Handler{ function setNext($h){}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Command{ function execute();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MyIterator implements Iterator{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Mediator{ function notify($s,$e);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Memento{ /* state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Subject{ function attach($o);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State{ function handle(Context $c);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SortStrategy{ function sort(array $d);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Task{ final function run(){ /*...*/ 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Visitor{ function visitX($e);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Creacionales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crear familias de productos relacionados sin acoplarse a clases concretas.</a:t>
            </a:r>
          </a:p>
          <a:p>
            <a:pPr lvl="1"/>
            <a:r>
              <a:t>Cuándo usar: Cuando existen múltiples variantes de productos relacionados.</a:t>
            </a:r>
          </a:p>
          <a:p>
            <a:pPr lvl="1"/>
            <a:r>
              <a:t>Cuándo usar: Necesitas intercambiar familias completas en tiempo de ejecución.</a:t>
            </a:r>
          </a:p>
          <a:p>
            <a:pPr lvl="1"/>
            <a:r>
              <a:t>+ Aísla código cliente de concreciones</a:t>
            </a:r>
          </a:p>
          <a:p>
            <a:pPr lvl="1"/>
            <a:r>
              <a:t>+ Facilita consistencia entre familias</a:t>
            </a:r>
          </a:p>
          <a:p>
            <a:pPr lvl="1"/>
            <a:r>
              <a:t>− Aumenta número de clases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Construye objetos complejos paso a paso, permitiendo distintas representaciones.</a:t>
            </a:r>
          </a:p>
          <a:p>
            <a:pPr lvl="1"/>
            <a:r>
              <a:t>Cuándo usar: Constructores con demasiados parámetros</a:t>
            </a:r>
          </a:p>
          <a:p>
            <a:pPr lvl="1"/>
            <a:r>
              <a:t>Cuándo usar: Necesitas diferentes configuraciones del mismo producto</a:t>
            </a:r>
          </a:p>
          <a:p>
            <a:pPr lvl="1"/>
            <a:r>
              <a:t>+ Lectura clara de pasos</a:t>
            </a:r>
          </a:p>
          <a:p>
            <a:pPr lvl="1"/>
            <a:r>
              <a:t>+ Varias representaciones</a:t>
            </a:r>
          </a:p>
          <a:p>
            <a:pPr lvl="1"/>
            <a:r>
              <a:t>− Más clases / directores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Delega la creación a subclases mediante un método de fábrica.</a:t>
            </a:r>
          </a:p>
          <a:p>
            <a:pPr lvl="1"/>
            <a:r>
              <a:t>Cuándo usar: Cuando una clase no puede anticipar qué clase concreta debe crear</a:t>
            </a:r>
          </a:p>
          <a:p>
            <a:pPr lvl="1"/>
            <a:r>
              <a:t>+ Desacopla creación de uso</a:t>
            </a:r>
          </a:p>
          <a:p>
            <a:pPr lvl="1"/>
            <a:r>
              <a:t>− Puede introducir jerarquías adicionales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 nuevos objetos copiando instancias existentes (clonado).</a:t>
            </a:r>
          </a:p>
          <a:p>
            <a:pPr lvl="1"/>
            <a:r>
              <a:t>Cuándo usar: Creación costosa o compleja</a:t>
            </a:r>
          </a:p>
          <a:p>
            <a:pPr lvl="1"/>
            <a:r>
              <a:t>Cuándo usar: Necesitas evitar dependencias de clases concretas</a:t>
            </a:r>
          </a:p>
          <a:p>
            <a:pPr lvl="1"/>
            <a:r>
              <a:t>+ Evita constructores costosos</a:t>
            </a:r>
          </a:p>
          <a:p>
            <a:pPr lvl="1"/>
            <a:r>
              <a:t>+ Duplica objetos en tiempo de ejecución</a:t>
            </a:r>
          </a:p>
          <a:p>
            <a:pPr lvl="1"/>
            <a:r>
              <a:t>− Copias profundas pueden ser complejas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Garantiza una única instancia global con punto de acceso controlado.</a:t>
            </a:r>
          </a:p>
          <a:p>
            <a:pPr lvl="1"/>
            <a:r>
              <a:t>Cuándo usar: Recurso compartido (config, registro)</a:t>
            </a:r>
          </a:p>
          <a:p>
            <a:pPr lvl="1"/>
            <a:r>
              <a:t>+ Única instancia controlada</a:t>
            </a:r>
          </a:p>
          <a:p>
            <a:pPr lvl="1"/>
            <a:r>
              <a:t>− Acopla y dificulta tests si se abusa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Convierte la interfaz de una clase en otra esperada por el cliente.</a:t>
            </a:r>
          </a:p>
          <a:p>
            <a:pPr lvl="1"/>
            <a:r>
              <a:t>Cuándo usar: Integrar APIs/SDKs incompatibles</a:t>
            </a:r>
          </a:p>
          <a:p>
            <a:pPr lvl="1"/>
            <a:r>
              <a:t>+ Reutiliza clases existentes</a:t>
            </a:r>
          </a:p>
          <a:p>
            <a:pPr lvl="1"/>
            <a:r>
              <a:t>+ Separa conversión de la lógica</a:t>
            </a:r>
          </a:p>
          <a:p>
            <a:pPr lvl="1"/>
            <a:r>
              <a:t>− Más objetos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 abstracción e implementación para que evolucionen de forma independiente.</a:t>
            </a:r>
          </a:p>
          <a:p>
            <a:pPr lvl="1"/>
            <a:r>
              <a:t>Cuándo usar: Variantes de abstracciones y de implementaciones</a:t>
            </a:r>
          </a:p>
          <a:p>
            <a:pPr lvl="1"/>
            <a:r>
              <a:t>+ Combinaciones libres</a:t>
            </a:r>
          </a:p>
          <a:p>
            <a:pPr lvl="1"/>
            <a:r>
              <a:t>− Diseño inicial más complejo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 objetos en árboles y trata compuestos y hojas de forma uniforme.</a:t>
            </a:r>
          </a:p>
          <a:p>
            <a:pPr lvl="1"/>
            <a:r>
              <a:t>Cuándo usar: Jerarquías parte‑todo</a:t>
            </a:r>
          </a:p>
          <a:p>
            <a:pPr lvl="1"/>
            <a:r>
              <a:t>+ Opera recursivamente</a:t>
            </a:r>
          </a:p>
          <a:p>
            <a:pPr lvl="1"/>
            <a:r>
              <a:t>+ Simplifica el cliente</a:t>
            </a:r>
          </a:p>
          <a:p>
            <a:pPr lvl="1"/>
            <a:r>
              <a:t>− Diseño más general que podría ser excesivo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Añade responsabilidades a un objeto dinámicamente via envoltorios.</a:t>
            </a:r>
          </a:p>
          <a:p>
            <a:pPr lvl="1"/>
            <a:r>
              <a:t>Cuándo usar: Extender comportamiento sin herencia múltiple</a:t>
            </a:r>
          </a:p>
          <a:p>
            <a:pPr lvl="1"/>
            <a:r>
              <a:t>+ Composición flexible</a:t>
            </a:r>
          </a:p>
          <a:p>
            <a:pPr lvl="1"/>
            <a:r>
              <a:t>− Muchos pequeños objetos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Expone una interfaz simple a un subsistema complejo.</a:t>
            </a:r>
          </a:p>
          <a:p>
            <a:pPr lvl="1"/>
            <a:r>
              <a:t>Cuándo usar: Reducir complejidad del uso</a:t>
            </a:r>
          </a:p>
          <a:p>
            <a:pPr lvl="1"/>
            <a:r>
              <a:t>+ Aísla complejidad</a:t>
            </a:r>
          </a:p>
          <a:p>
            <a:pPr lvl="1"/>
            <a:r>
              <a:t>− Puede ocultar malas arquitecturas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Comparte estado intrínseco entre muchos objetos para ahorrar memoria.</a:t>
            </a:r>
          </a:p>
          <a:p>
            <a:pPr lvl="1"/>
            <a:r>
              <a:t>Cuándo usar: Muchos objetos similares (iconos, letras)</a:t>
            </a:r>
          </a:p>
          <a:p>
            <a:pPr lvl="1"/>
            <a:r>
              <a:t>+ Ahorro de RAM</a:t>
            </a:r>
          </a:p>
          <a:p>
            <a:pPr lvl="1"/>
            <a:r>
              <a:t>− Gestión cuidada de estados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Sustituto que controla acceso a un objeto real agregando comportamiento.</a:t>
            </a:r>
          </a:p>
          <a:p>
            <a:pPr lvl="1"/>
            <a:r>
              <a:t>Cuándo usar: Control de acceso, caché, lazy loading</a:t>
            </a:r>
          </a:p>
          <a:p>
            <a:pPr lvl="1"/>
            <a:r>
              <a:t>+ Control transversal</a:t>
            </a:r>
          </a:p>
          <a:p>
            <a:pPr lvl="1"/>
            <a:r>
              <a:t>− Capa extra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Comportamiento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 of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Pasa la petición a través de una cadena de manejadores.</a:t>
            </a:r>
          </a:p>
          <a:p>
            <a:pPr lvl="1"/>
            <a:r>
              <a:t>Cuándo usar: Validaciones, filtros, middleware</a:t>
            </a:r>
          </a:p>
          <a:p>
            <a:pPr lvl="1"/>
            <a:r>
              <a:t>+ Flexibilidad de orden</a:t>
            </a:r>
          </a:p>
          <a:p>
            <a:pPr lvl="1"/>
            <a:r>
              <a:t>− Difícil de rastrear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 una solicitud como objeto para parametrizar, colar o deshacer.</a:t>
            </a:r>
          </a:p>
          <a:p>
            <a:pPr lvl="1"/>
            <a:r>
              <a:t>Cuándo usar: Colas, deshacer, operaciones remotas</a:t>
            </a:r>
          </a:p>
          <a:p>
            <a:pPr lvl="1"/>
            <a:r>
              <a:t>+ Desacopla invocador/receptor</a:t>
            </a:r>
          </a:p>
          <a:p>
            <a:pPr lvl="1"/>
            <a:r>
              <a:t>− Más clases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recorrer una colección sin exponer su representación interna.</a:t>
            </a:r>
          </a:p>
          <a:p>
            <a:pPr lvl="1"/>
            <a:r>
              <a:t>Cuándo usar: Colecciones personalizadas</a:t>
            </a:r>
          </a:p>
          <a:p>
            <a:pPr lvl="1"/>
            <a:r>
              <a:t>+ Interfaz uniforme</a:t>
            </a:r>
          </a:p>
          <a:p>
            <a:pPr lvl="1"/>
            <a:r>
              <a:t>− Implementación adicional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Centraliza la comunicación para reducir acoplamientos entre colegas.</a:t>
            </a:r>
          </a:p>
          <a:p>
            <a:pPr lvl="1"/>
            <a:r>
              <a:t>Cuándo usar: UI complejas, chatrooms</a:t>
            </a:r>
          </a:p>
          <a:p>
            <a:pPr lvl="1"/>
            <a:r>
              <a:t>+ Menos dependencias en malla</a:t>
            </a:r>
          </a:p>
          <a:p>
            <a:pPr lvl="1"/>
            <a:r>
              <a:t>− Mediador puede crecer demasiado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Captura y restaura el estado interno sin violar encapsulamiento.</a:t>
            </a:r>
          </a:p>
          <a:p>
            <a:pPr lvl="1"/>
            <a:r>
              <a:t>Cuándo usar: Deshacer, checkpoints</a:t>
            </a:r>
          </a:p>
          <a:p>
            <a:pPr lvl="1"/>
            <a:r>
              <a:t>+ Deshacer seguro</a:t>
            </a:r>
          </a:p>
          <a:p>
            <a:pPr lvl="1"/>
            <a:r>
              <a:t>− Gestión de memoria/privacidad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Suscripción para notificar a múltiples dependientes de cambios.</a:t>
            </a:r>
          </a:p>
          <a:p>
            <a:pPr lvl="1"/>
            <a:r>
              <a:t>Cuándo usar: Eventos, modelos de dominio</a:t>
            </a:r>
          </a:p>
          <a:p>
            <a:pPr lvl="1"/>
            <a:r>
              <a:t>+ Reactividad</a:t>
            </a:r>
          </a:p>
          <a:p>
            <a:pPr lvl="1"/>
            <a:r>
              <a:t>− Avisos en cascada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Cambia el comportamiento cuando cambia el estado interno.</a:t>
            </a:r>
          </a:p>
          <a:p>
            <a:pPr lvl="1"/>
            <a:r>
              <a:t>Cuándo usar: Máquinas de estados, workflows</a:t>
            </a:r>
          </a:p>
          <a:p>
            <a:pPr lvl="1"/>
            <a:r>
              <a:t>+ Elimina condicionales masivos</a:t>
            </a:r>
          </a:p>
          <a:p>
            <a:pPr lvl="1"/>
            <a:r>
              <a:t>− Más clases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Familia de algoritmos intercambiables en tiempo de ejecución.</a:t>
            </a:r>
          </a:p>
          <a:p>
            <a:pPr lvl="1"/>
            <a:r>
              <a:t>Cuándo usar: Elegir algoritmo en tiempo de ejecución</a:t>
            </a:r>
          </a:p>
          <a:p>
            <a:pPr lvl="1"/>
            <a:r>
              <a:t>+ Abierto a nuevas estrategias</a:t>
            </a:r>
          </a:p>
          <a:p>
            <a:pPr lvl="1"/>
            <a:r>
              <a:t>− Overhead de objetos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Esqueleto del algoritmo en superclase con pasos sobreescribibles.</a:t>
            </a:r>
          </a:p>
          <a:p>
            <a:pPr lvl="1"/>
            <a:r>
              <a:t>Cuándo usar: Algoritmos con pasos variables</a:t>
            </a:r>
          </a:p>
          <a:p>
            <a:pPr lvl="1"/>
            <a:r>
              <a:t>+ Reutilización de flujo</a:t>
            </a:r>
          </a:p>
          <a:p>
            <a:pPr lvl="1"/>
            <a:r>
              <a:t>− Herencia fija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Agrega operaciones a una jerarquía sin modificar sus clases.</a:t>
            </a:r>
          </a:p>
          <a:p>
            <a:pPr lvl="1"/>
            <a:r>
              <a:t>Cuándo usar: Reportes, operaciones cruzadas</a:t>
            </a:r>
          </a:p>
          <a:p>
            <a:pPr lvl="1"/>
            <a:r>
              <a:t>+ Nuevas operaciones fáciles</a:t>
            </a:r>
          </a:p>
          <a:p>
            <a:pPr lvl="1"/>
            <a:r>
              <a:t>− Añadir nuevas clases es costoso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