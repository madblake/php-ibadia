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" Type="http://schemas.openxmlformats.org/officeDocument/2006/relationships/viewProps" Target="viewProps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" Type="http://schemas.openxmlformats.org/officeDocument/2006/relationships/theme" Target="theme/theme1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GUIFactory{public function createButton():Button;}</a:t>
            </a:r>
          </a:p>
          <a:p>
            <a:r>
              <a:t>interface Button{public function render():string;}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QueryBuilder{function select($t){/*...*/}}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LoggerCreator{abstract function create():Logger;}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Shape{ function __clone(){}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final class Config{ private static $i; private function __construct(){}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XmlAdapter implements Target{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Remote{ function __construct(Device $d){}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Node{ function render(): string;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Notifier{ function send($m);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VideoConverter{ function convert($f,$t){}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GlyphFactory{ /* pool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ImageProxy implements Image{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Handler{ function setNext($h){}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Command{ function execute();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MyIterator implements Iterator{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Mediator{ function notify($s,$e);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Memento{ /* state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Subject{ function attach($o);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State{ function handle(Context $c);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SortStrategy{ function sort(array $d);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Task{ final function run(){ /*...*/ 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Visitor{ function visitX($e);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Creacionales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Abstract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Permite crear familias de productos relacionados sin acoplarse a clases concretas.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Cuando existen múltiples variantes de productos relacionados.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Necesitas intercambiar familias completas en tiempo de ejecución.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Aísla código cliente de concreciones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Facilita consistencia entre familias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Aumenta número de clases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GUIFactory{public function createButton():Button;}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Construye objetos complejos paso a paso, permitiendo distintas representaciones.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Constructores con demasiados parámetros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Necesitas diferentes configuraciones del mismo producto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Lectura clara de pasos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Varias representaciones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Más clases / directores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QueryBuilder{function select($t){/*...*/}}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Factory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Delega la creación a subclases mediante un método de fábrica.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Cuando una clase no puede anticipar qué clase concreta debe crear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Desacopla creación de uso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Puede introducir jerarquías adicionales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abstract class Creator{abstract function factoryMethod();}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Crea nuevos objetos copiando instancias existentes (clonado).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Creación costosa o compleja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Necesitas evitar dependencias de clases concretas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Evita constructores costosos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Duplica objetos en tiempo de ejecución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Copias profundas pueden ser complejas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Shape{function __clone(){}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Singleton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Garantiza una única instancia global con punto de acceso controlado.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Recurso compartido (config, registro)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Única instancia controlada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Acopla y dificulta tests si se abusa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final class Config{ private static $i;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Estructurales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Convierte la interfaz de una clase en otra esperada por el cliente.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Integrar APIs/SDKs incompatibles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Reutiliza clases existentes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Separa conversión de la lógica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Más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Adapter implements Target{ /* */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Separa abstracción e implementación para que evolucionen de forma independiente.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Variantes de abstracciones y de implementaciones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Combinaciones libres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Diseño inicial más complejo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Remote{ function __construct(Device $d){}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Compone objetos en árboles y trata compuestos y hojas de forma uniforme.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Jerarquías parte‑todo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Opera recursivamente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Simplifica el cliente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Diseño más general que podría ser excesivo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Component{ function render();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Decorator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Añade responsabilidades a un objeto dinámicamente via envoltorios.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Extender comportamiento sin herencia múltiple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Composición flexible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Muchos pequeños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SMSDecorator extends Decorator{}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Facade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Expone una interfaz simple a un subsistema complejo.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Reducir complejidad del uso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Aísla complejidad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Puede ocultar malas arquitecturas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Facade{ function doWork(){}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Flyweight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Comparte estado intrínseco entre muchos objetos para ahorrar memoria.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Muchos objetos similares (iconos, letras)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Ahorro de RAM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Gestión cuidada de 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GlyphFactory{ /* pool */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Sustituto que controla acceso a un objeto real agregando comportamiento.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Control de acceso, caché, lazy loading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Control transversal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Capa extra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ImageProxy implements Image{}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Comportamiento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Chain of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Pasa la petición a través de una cadena de manejadores.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Validaciones, filtros, middleware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Flexibilidad de orden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Difícil de rastrear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abstract class Handler{ function setNext(){}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Encapsula una solicitud como objeto para parametrizar, colar o deshacer.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Colas, deshacer, operaciones remotas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Desacopla invocador/receptor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Más clases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Command{ function execute();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Permite recorrer una colección sin exponer su representación interna.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Colecciones personalizadas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Interfaz uniforme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Implementación adicional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MyIterator implements Iterator{}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Mediator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Centraliza la comunicación para reducir acoplamientos entre colegas.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UI complejas, chatrooms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Menos dependencias en malla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Mediador puede crecer demasiado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Mediator{ function notify();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Memento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Captura y restaura el estado interno sin violar encapsulamiento.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Deshacer, checkpoints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Deshacer seguro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Gestión de memoria/privacidad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Memento{ /* state */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Observer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Suscripción para notificar a múltiples dependientes de cambios.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Eventos, modelos de dominio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Reactividad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Avisos en cascada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Subject{ function attach($o);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Cambia el comportamiento cuando cambia el estado interno.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Máquinas de estados, workflows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Elimina condicionales masivos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Más clases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State{ function handle();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Familia de algoritmos intercambiables en tiempo de ejecución.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Elegir algoritmo en tiempo de ejecución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Abierto a nuevas estrategias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Overhead de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Strategy{ function run();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Template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Esqueleto del algoritmo en superclase con pasos sobreescribibles.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Algoritmos con pasos variables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Reutilización de flujo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Herencia fija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abstract class Base{ final function run(){}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Visitor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4151"/>
                </a:solidFill>
                <a:latin typeface="Calibri"/>
              </a:rPr>
              <a:t>Agrega operaciones a una jerarquía sin modificar sus clases.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Cuándo usar: Reportes, operaciones cruzadas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+ Nuevas operaciones fáciles</a:t>
            </a:r>
          </a:p>
          <a:p>
            <a:pPr lvl="1"/>
            <a:r>
              <a:rPr sz="1800">
                <a:solidFill>
                  <a:srgbClr val="374151"/>
                </a:solidFill>
                <a:latin typeface="Calibri"/>
              </a:rPr>
              <a:t>− Añadir nuevas clases es costoso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Visitor{ function visit();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Abstract Factory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AbstractFactory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+createA()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+createB()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ConcreteFactoryA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ConcreteFactoryB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AbstractProductA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972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AbstractProductB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188720" y="685800"/>
            <a:ext cx="27432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51560" y="1508760"/>
            <a:ext cx="13716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1508760"/>
            <a:ext cx="13716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3040" y="685800"/>
            <a:ext cx="13716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63040" y="685800"/>
            <a:ext cx="32004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GUIFactory{public function createButton():Button;}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Builder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Director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Builder (interface)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Product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7772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7772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371600" y="777240"/>
            <a:ext cx="27432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QueryBuilder{function select($t){/*...*/}}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Factory Method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Creator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+factoryMethod()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ConcreteCreator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ConcreteProduct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868680"/>
            <a:ext cx="0" cy="1188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86868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205740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abstract class Creator{abstract function factoryMethod();}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Prototype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Prototype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+clone()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ConcretePrototypeA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ConcretePrototypeB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96012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417320" y="685800"/>
            <a:ext cx="32004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960120"/>
            <a:ext cx="32004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Shape{function __clone(){}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Singleton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Singleton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-static getInstance()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final class Config{ private static $i;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Adapter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Adapter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Adaptee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1051560"/>
            <a:ext cx="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Adapter implements Target{ /* */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Bridge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Abstraction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RefinedAbstraction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Implementor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ConcreteImplA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ConcreteImplB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9601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5448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960120"/>
            <a:ext cx="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Remote{ function __construct(Device $d){}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Composite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Leaf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Composite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097280" y="2057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Component{ function render();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Decorator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Decorator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ConcreteDecorator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96012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96012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SMSDecorator extends Decorator{}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Facade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Facade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Subsystem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Subsystem 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2344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71600" y="86868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12344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Facade{ function doWork(){}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Flyweight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FlyweightFactory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Flyweight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ConcreteFlyweight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97280" y="7772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77724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91640" y="77724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GlyphFactory{ /* pool */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Proxy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Subject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Proxy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RealSubject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2344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71600" y="960120"/>
            <a:ext cx="27432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ImageProxy implements Image{}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Chain of Responsibility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Handler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ConcreteHandler1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ConcreteHandler2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ConcreteHandler3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86868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71600" y="685800"/>
            <a:ext cx="27432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45920" y="685800"/>
            <a:ext cx="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45920" y="1325880"/>
            <a:ext cx="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abstract class Handler{ function setNext(){}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Command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Invoker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Receiver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1430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71600" y="7772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77724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Command{ function execute();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Iterator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Iterator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ConcreteIterator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Aggregate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97280" y="7772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77724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114300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MyIterator implements Iterator{}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Mediator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ColleagueA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Mediator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ColleagueB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96012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417320" y="96012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Mediator{ function notify();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Memento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Originator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Memento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Caretaker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46304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class Memento{ /* state */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Observer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Observer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ConcreteObserver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86868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54480" y="86868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Subject{ function attach($o);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State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ConcreteStateA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ConcreteStateB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960120"/>
            <a:ext cx="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State{ function handle();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Strategy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ConcreteStrategyA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ConcreteStrategyB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960120"/>
            <a:ext cx="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Strategy{ function run();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Template Method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AbstractClass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+templateMethod()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ConcreteClass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96012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abstract class Base{ final function run(){}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Visitor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Visitor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ConcreteVisitor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rPr sz="1800">
                <a:solidFill>
                  <a:srgbClr val="374151"/>
                </a:solidFill>
                <a:latin typeface="Calibri"/>
              </a:rPr>
              <a:t>Element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800">
                <a:solidFill>
                  <a:srgbClr val="374151"/>
                </a:solidFill>
                <a:latin typeface="Calibri"/>
              </a:rPr>
              <a:t>ConcreteElement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868680"/>
            <a:ext cx="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868680"/>
            <a:ext cx="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rPr sz="1800">
                <a:solidFill>
                  <a:srgbClr val="374151"/>
                </a:solidFill>
                <a:latin typeface="Calibri"/>
              </a:rPr>
              <a:t>&lt;?php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interface Visitor{ function visit(); }</a:t>
            </a:r>
          </a:p>
          <a:p>
            <a:r>
              <a:rPr sz="1800">
                <a:solidFill>
                  <a:srgbClr val="374151"/>
                </a:solidFill>
                <a:latin typeface="Calibri"/>
              </a:rPr>
              <a:t>?&gt;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374151"/>
                </a:solidFill>
                <a:latin typeface="Calibri"/>
              </a:rPr>
              <a:t>Atribución (UML – opción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800">
                <a:solidFill>
                  <a:srgbClr val="374151"/>
                </a:solidFill>
                <a:latin typeface="Calibri"/>
              </a:rPr>
              <a:t>Los diagramas UML de esta presentación son esquemas originales orientativos, inspirados en la catalogación de patrones de Refactoring.Guru. Crédito: Refactoring.Guru (https://refactoring.guru/es/design-patterns). Licencia sugerida para material derivado: CC BY-SA 4.0 (https://creativecommons.org/licenses/by-sa/4.0/).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